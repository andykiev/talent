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64" r:id="rId15"/>
    <p:sldId id="265" r:id="rId16"/>
    <p:sldId id="266" r:id="rId17"/>
    <p:sldId id="259" r:id="rId5"/>
    <p:sldId id="260" r:id="rId6"/>
    <p:sldId id="267" r:id="rId18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7A0A1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3657600"/>
            <a:ext cx="3108960" cy="31089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оцінки персоналу в системі Talent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для HR-директора   ·   приклад: сесія №7   ·   липень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People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Періодичні сесії оцінки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кампанія з датами старту та завершення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форма на працівника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оцінки та коментарі — в одному місці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повноти та статусів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хто ще не заповнив форму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 ролями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бачить лише те, що йому дозволено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4343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презентації — жива сесія №7, наповнена даними.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26280" y="914400"/>
            <a:ext cx="4160520" cy="3794760"/>
          </a:xfrm>
          <a:prstGeom prst="roundRect">
            <a:avLst>
              <a:gd name="adj" fmla="val 1446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663440" y="914400"/>
            <a:ext cx="38862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екран сесії №7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/people_review/7 — список працівників сесії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оцінки: що всередині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509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Особисті та професійні дані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посада, підрозділ, стаж — контекст оцінювання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007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Виміри (компетенції)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оцінювання працівника за визначеними вимірами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конкретні факти, що обґрунтовують кожну оцінку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Пропонований рівень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рівень, який пропонує оцінювач за підсумком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9502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розвитку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цілі та кроки розвитку після сесії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914400"/>
            <a:ext cx="4160520" cy="1810512"/>
          </a:xfrm>
          <a:prstGeom prst="roundRect">
            <a:avLst>
              <a:gd name="adj" fmla="val 3030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914400"/>
            <a:ext cx="38862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Форма: виміри та факти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оцінки за компетенціями + факти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4160520" cy="1810512"/>
          </a:xfrm>
          <a:prstGeom prst="roundRect">
            <a:avLst>
              <a:gd name="adj" fmla="val 3030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63440" y="2880360"/>
            <a:ext cx="38862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Форма: рівень і план розвитку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пропонований рівень + план розвитку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Ролі доступу: хто що бачить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«Тільки я»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Працівник бачить лише власну форму. Форми колег недоступні.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2404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15284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15284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90772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«Oversight»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5284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Бачить і заповнює форми лише тих працівників, які призначили його своїм oversight-менеджером.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932688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90488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9048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65976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«Супервізор»  </a:t>
            </a:r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90488" y="157276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Бачить усі форми сесії — повна картина по компанії.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 oversight-менеджера — в адмін-панелі (process roles).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3182112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екран очима трьох ролей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only_me · oversight · supervisor — три вікна поруч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Звіти: PDF та HTML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матеріали для HR-комітету та презентацій керівництву — одним кліком, без ручного зведення таблиць.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3716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PDF-звіт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друк, роздатка, слайди для комітету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F5F3F1"/>
          </a:solidFill>
          <a:ln w="15875">
            <a:solidFill>
              <a:srgbClr val="8FA3C8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00600" y="13716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СКРІНШОТ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HTML-звіт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перегляд у браузері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офіційний документ: друк і додаток до презентації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живий перегляд результатів без встановлення програм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Зрізи по підрозділах і вимірах — база для HR-аналітики та презентацій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проти Google/Excel-таблиць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4160520" cy="3749040"/>
          </a:xfrm>
          <a:prstGeom prst="roundRect">
            <a:avLst>
              <a:gd name="adj" fmla="val 1707"/>
            </a:avLst>
          </a:prstGeom>
          <a:solidFill>
            <a:srgbClr val="E7F5E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— переваги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 ролями — рядок бачить лише той, кому можна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джерело правди — без «final_v7.xlsx»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Довідники й валідація — без зламаних формул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змін: хто, що, коли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Двомовність: укр / eng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Звіти для HR: PDF/HTML, порівняння між сесіями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932688"/>
            <a:ext cx="3794760" cy="1783080"/>
          </a:xfrm>
          <a:prstGeom prst="roundRect">
            <a:avLst>
              <a:gd name="adj" fmla="val 359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20640" y="1060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Таблиці — сильні сторони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3898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старт, нуль розробки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гнучкі ad-hoc формули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знайомий усім інструмент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2898648"/>
            <a:ext cx="3794760" cy="1783080"/>
          </a:xfrm>
          <a:prstGeom prst="roundRect">
            <a:avLst>
              <a:gd name="adj" fmla="val 359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2064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— обмеження (чесно)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35584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функції — через розробника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коротке навчання користувачів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свободи для ad-hoc розрахунків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566160"/>
            <a:ext cx="3108960" cy="3108960"/>
          </a:xfrm>
          <a:prstGeom prst="ellipse">
            <a:avLst/>
          </a:prstGeom>
          <a:solidFill>
            <a:srgbClr val="7A0A1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для HR-директора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ролі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конфіденційність без ручного контролю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+ HTML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звіти для комітету одним кліком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722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укр · eng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двомовний інтерфейс і повідомлення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Контрольований і конфіденційний процес оцінки — замість хаосу таблиць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Структуровані дані — готові до аналітики та порівняння між сесіями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7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крок: пілот на сесії №7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C8102E"/>
                </a:solidFill>
                <a:latin typeface="Cambria"/>
              </a:rPr>
              <a:t>Життєвий цикл сесії та контроль повноти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3977639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Сесія проходить етапи: </a:t>
            </a:r>
            <a:r>
              <a:rPr b="1" sz="1250">
                <a:solidFill>
                  <a:srgbClr val="22293B"/>
                </a:solidFill>
                <a:latin typeface="Calibri"/>
              </a:rPr>
              <a:t>очікує → відкрита → закрита</a:t>
            </a:r>
            <a:r>
              <a:rPr b="0" sz="1250">
                <a:solidFill>
                  <a:srgbClr val="22293B"/>
                </a:solidFill>
                <a:latin typeface="Calibri"/>
              </a:rPr>
              <a:t>. Оцінювати можна лише у відкритій сесії.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Кожен працівник має власний статус: </a:t>
            </a:r>
            <a:r>
              <a:rPr b="1" sz="1250">
                <a:solidFill>
                  <a:srgbClr val="22293B"/>
                </a:solidFill>
                <a:latin typeface="Calibri"/>
              </a:rPr>
              <a:t>відкрито → переглянуто → закрито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оцінювач веде людину цими кроками.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Прогрес видно наочно: скільки компетенцій </a:t>
            </a:r>
            <a:r>
              <a:rPr b="1" sz="1250">
                <a:solidFill>
                  <a:srgbClr val="22293B"/>
                </a:solidFill>
                <a:latin typeface="Calibri"/>
              </a:rPr>
              <a:t>оцінено</a:t>
            </a:r>
            <a:r>
              <a:rPr b="0" sz="1250">
                <a:solidFill>
                  <a:srgbClr val="22293B"/>
                </a:solidFill>
                <a:latin typeface="Calibri"/>
              </a:rPr>
              <a:t> та скільки підкріплено </a:t>
            </a:r>
            <a:r>
              <a:rPr b="1" sz="1250">
                <a:solidFill>
                  <a:srgbClr val="22293B"/>
                </a:solidFill>
                <a:latin typeface="Calibri"/>
              </a:rPr>
              <a:t>фактами</a:t>
            </a:r>
            <a:r>
              <a:rPr b="0" sz="1250">
                <a:solidFill>
                  <a:srgbClr val="22293B"/>
                </a:solidFill>
                <a:latin typeface="Calibri"/>
              </a:rPr>
              <a:t> (дві шкали на кожного).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«Переглянуто» вмикається лише коли заповнені </a:t>
            </a:r>
            <a:r>
              <a:rPr b="1" sz="1250">
                <a:solidFill>
                  <a:srgbClr val="22293B"/>
                </a:solidFill>
                <a:latin typeface="Calibri"/>
              </a:rPr>
              <a:t>всі</a:t>
            </a:r>
            <a:r>
              <a:rPr b="0" sz="1250">
                <a:solidFill>
                  <a:srgbClr val="22293B"/>
                </a:solidFill>
                <a:latin typeface="Calibri"/>
              </a:rPr>
              <a:t> виміри та ухвалено рішення про рівень.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Керівник будь-коли бачить, хто ще не завершив, і може повернути форму на доопрацювання.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932688"/>
            <a:ext cx="4069080" cy="3749039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 w="15875">
            <a:solidFill>
              <a:srgbClr val="E2D9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32688"/>
            <a:ext cx="3794760" cy="37490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50">
                <a:solidFill>
                  <a:srgbClr val="A06A6A"/>
                </a:solidFill>
                <a:latin typeface="Calibri"/>
              </a:rPr>
              <a:t>СКРІНШОТ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Ростер сесії № 7 — статуси та прогрес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b="0" sz="1050">
                <a:solidFill>
                  <a:srgbClr val="5A6478"/>
                </a:solidFill>
                <a:latin typeface="Calibri"/>
              </a:rPr>
              <a:t>дві шкали: оцінки + факти, дії зі статусами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C8102E"/>
                </a:solidFill>
                <a:latin typeface="Cambria"/>
              </a:rPr>
              <a:t>Компетенції: оцінка, підкріплена фактами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3977639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Кожна компетенція оцінюється за кількома </a:t>
            </a:r>
            <a:r>
              <a:rPr b="1" sz="1250">
                <a:solidFill>
                  <a:srgbClr val="22293B"/>
                </a:solidFill>
                <a:latin typeface="Calibri"/>
              </a:rPr>
              <a:t>індикаторами поведінки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зірочками; система рахує середнє.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До кожної компетенції додаються </a:t>
            </a:r>
            <a:r>
              <a:rPr b="1" sz="1250">
                <a:solidFill>
                  <a:srgbClr val="22293B"/>
                </a:solidFill>
                <a:latin typeface="Calibri"/>
              </a:rPr>
              <a:t>факти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конкретні приклади поведінки, що доводять оцінку.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Окремо фіксуються </a:t>
            </a:r>
            <a:r>
              <a:rPr b="1" sz="1250">
                <a:solidFill>
                  <a:srgbClr val="22293B"/>
                </a:solidFill>
                <a:latin typeface="Calibri"/>
              </a:rPr>
              <a:t>напрями для розвитку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що саме покращити.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Візуальна </a:t>
            </a:r>
            <a:r>
              <a:rPr b="1" sz="1250">
                <a:solidFill>
                  <a:srgbClr val="22293B"/>
                </a:solidFill>
                <a:latin typeface="Calibri"/>
              </a:rPr>
              <a:t>діаграма</a:t>
            </a:r>
            <a:r>
              <a:rPr b="0" sz="1250">
                <a:solidFill>
                  <a:srgbClr val="22293B"/>
                </a:solidFill>
                <a:latin typeface="Calibri"/>
              </a:rPr>
              <a:t> показує профіль сильних і слабких сторін з першого погляду.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Факти можна переносити між компетенціями — оцінка спирається на </a:t>
            </a:r>
            <a:r>
              <a:rPr b="1" sz="1250">
                <a:solidFill>
                  <a:srgbClr val="22293B"/>
                </a:solidFill>
                <a:latin typeface="Calibri"/>
              </a:rPr>
              <a:t>докази</a:t>
            </a:r>
            <a:r>
              <a:rPr b="0" sz="1250">
                <a:solidFill>
                  <a:srgbClr val="22293B"/>
                </a:solidFill>
                <a:latin typeface="Calibri"/>
              </a:rPr>
              <a:t>, а не на враження.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932688"/>
            <a:ext cx="4069080" cy="3749039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 w="15875">
            <a:solidFill>
              <a:srgbClr val="E2D9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32688"/>
            <a:ext cx="3794760" cy="37490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50">
                <a:solidFill>
                  <a:srgbClr val="A06A6A"/>
                </a:solidFill>
                <a:latin typeface="Calibri"/>
              </a:rPr>
              <a:t>СКРІНШОТ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Оцінка компетенції: індикатори + факти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b="0" sz="1050">
                <a:solidFill>
                  <a:srgbClr val="5A6478"/>
                </a:solidFill>
                <a:latin typeface="Calibri"/>
              </a:rPr>
              <a:t>зірочки, середнє, факти, діаграма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C8102E"/>
                </a:solidFill>
                <a:latin typeface="Cambria"/>
              </a:rPr>
              <a:t>Підсумок компетенцій і рішення про рівень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3977639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Оцінювач виділяє </a:t>
            </a:r>
            <a:r>
              <a:rPr b="1" sz="1250">
                <a:solidFill>
                  <a:srgbClr val="22293B"/>
                </a:solidFill>
                <a:latin typeface="Calibri"/>
              </a:rPr>
              <a:t>сильні сторони</a:t>
            </a:r>
            <a:r>
              <a:rPr b="0" sz="1250">
                <a:solidFill>
                  <a:srgbClr val="22293B"/>
                </a:solidFill>
                <a:latin typeface="Calibri"/>
              </a:rPr>
              <a:t> та </a:t>
            </a:r>
            <a:r>
              <a:rPr b="1" sz="1250">
                <a:solidFill>
                  <a:srgbClr val="22293B"/>
                </a:solidFill>
                <a:latin typeface="Calibri"/>
              </a:rPr>
              <a:t>зони розвитку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короткий підсумок по працівнику.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Пропонується </a:t>
            </a:r>
            <a:r>
              <a:rPr b="1" sz="1250">
                <a:solidFill>
                  <a:srgbClr val="22293B"/>
                </a:solidFill>
                <a:latin typeface="Calibri"/>
              </a:rPr>
              <a:t>рівень</a:t>
            </a:r>
            <a:r>
              <a:rPr b="0" sz="1250">
                <a:solidFill>
                  <a:srgbClr val="22293B"/>
                </a:solidFill>
                <a:latin typeface="Calibri"/>
              </a:rPr>
              <a:t> працівника; підвищення потрібно </a:t>
            </a:r>
            <a:r>
              <a:rPr b="1" sz="1250">
                <a:solidFill>
                  <a:srgbClr val="22293B"/>
                </a:solidFill>
                <a:latin typeface="Calibri"/>
              </a:rPr>
              <a:t>обґрунтувати</a:t>
            </a:r>
            <a:r>
              <a:rPr b="0" sz="1250">
                <a:solidFill>
                  <a:srgbClr val="22293B"/>
                </a:solidFill>
                <a:latin typeface="Calibri"/>
              </a:rPr>
              <a:t> за вимогами цього рівня.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Система порівнює пропонований рівень із поточним: </a:t>
            </a:r>
            <a:r>
              <a:rPr b="1" sz="1250">
                <a:solidFill>
                  <a:srgbClr val="22293B"/>
                </a:solidFill>
                <a:latin typeface="Calibri"/>
              </a:rPr>
              <a:t>підвищення / підтвердження / зниження</a:t>
            </a:r>
            <a:r>
              <a:rPr b="0" sz="1250">
                <a:solidFill>
                  <a:srgbClr val="22293B"/>
                </a:solidFill>
                <a:latin typeface="Calibri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Без обґрунтованого рішення про рівень форму </a:t>
            </a:r>
            <a:r>
              <a:rPr b="1" sz="1250">
                <a:solidFill>
                  <a:srgbClr val="22293B"/>
                </a:solidFill>
                <a:latin typeface="Calibri"/>
              </a:rPr>
              <a:t>не можна</a:t>
            </a:r>
            <a:r>
              <a:rPr b="0" sz="1250">
                <a:solidFill>
                  <a:srgbClr val="22293B"/>
                </a:solidFill>
                <a:latin typeface="Calibri"/>
              </a:rPr>
              <a:t> позначити як «переглянуто» — рішення завжди аргументоване.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932688"/>
            <a:ext cx="4069080" cy="3749039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 w="15875">
            <a:solidFill>
              <a:srgbClr val="E2D9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32688"/>
            <a:ext cx="3794760" cy="37490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50">
                <a:solidFill>
                  <a:srgbClr val="A06A6A"/>
                </a:solidFill>
                <a:latin typeface="Calibri"/>
              </a:rPr>
              <a:t>СКРІНШОТ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Пропонований рівень і підсумок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b="0" sz="1050">
                <a:solidFill>
                  <a:srgbClr val="5A6478"/>
                </a:solidFill>
                <a:latin typeface="Calibri"/>
              </a:rPr>
              <a:t>сильні сторони, зони розвитку, рівень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C8102E"/>
                </a:solidFill>
                <a:latin typeface="Cambria"/>
              </a:rPr>
              <a:t>Індивідуальний план розвитку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3977639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За підсумком оцінки формується </a:t>
            </a:r>
            <a:r>
              <a:rPr b="1" sz="1250">
                <a:solidFill>
                  <a:srgbClr val="22293B"/>
                </a:solidFill>
                <a:latin typeface="Calibri"/>
              </a:rPr>
              <a:t>план розвитку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конкретні місії/завдання на період.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Кожна місія має </a:t>
            </a:r>
            <a:r>
              <a:rPr b="1" sz="1250">
                <a:solidFill>
                  <a:srgbClr val="22293B"/>
                </a:solidFill>
                <a:latin typeface="Calibri"/>
              </a:rPr>
              <a:t>KPI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вимірюваний результат, а не абстрактне «покращити».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Місію можна </a:t>
            </a:r>
            <a:r>
              <a:rPr b="1" sz="1250">
                <a:solidFill>
                  <a:srgbClr val="22293B"/>
                </a:solidFill>
                <a:latin typeface="Calibri"/>
              </a:rPr>
              <a:t>прив’язати до компетенції</a:t>
            </a:r>
            <a:r>
              <a:rPr b="0" sz="1250">
                <a:solidFill>
                  <a:srgbClr val="22293B"/>
                </a:solidFill>
                <a:latin typeface="Calibri"/>
              </a:rPr>
              <a:t>, яку розвиваємо, — план випливає з оцінки.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Кількість місій регулюється налаштуваннями (мінімум/максимум) — єдиний стандарт для всіх.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План зберігається разом з оцінкою і потрапляє у звіт </a:t>
            </a:r>
            <a:r>
              <a:rPr b="1" sz="1250">
                <a:solidFill>
                  <a:srgbClr val="22293B"/>
                </a:solidFill>
                <a:latin typeface="Calibri"/>
              </a:rPr>
              <a:t>TEMPO</a:t>
            </a:r>
            <a:r>
              <a:rPr b="0" sz="1250">
                <a:solidFill>
                  <a:srgbClr val="22293B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932688"/>
            <a:ext cx="4069080" cy="3749039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 w="15875">
            <a:solidFill>
              <a:srgbClr val="E2D9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32688"/>
            <a:ext cx="3794760" cy="37490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50">
                <a:solidFill>
                  <a:srgbClr val="A06A6A"/>
                </a:solidFill>
                <a:latin typeface="Calibri"/>
              </a:rPr>
              <a:t>СКРІНШОТ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План розвитку: місії та KPI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b="0" sz="1050">
                <a:solidFill>
                  <a:srgbClr val="5A6478"/>
                </a:solidFill>
                <a:latin typeface="Calibri"/>
              </a:rPr>
              <a:t>завдання, KPI, прив’язка до компетенції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sz="2700">
                <a:solidFill>
                  <a:srgbClr val="C8102E"/>
                </a:solidFill>
                <a:latin typeface="Cambria"/>
              </a:rPr>
              <a:t>Презентація та аналітика сесії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3977639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1" sz="1250">
                <a:solidFill>
                  <a:srgbClr val="22293B"/>
                </a:solidFill>
                <a:latin typeface="Calibri"/>
              </a:rPr>
              <a:t>Режим презентації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усі працівники сесії одним слайд-шоу з навігацією ◀ ▶ для комітету.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0" sz="1250">
                <a:solidFill>
                  <a:srgbClr val="22293B"/>
                </a:solidFill>
                <a:latin typeface="Calibri"/>
              </a:rPr>
              <a:t>Порядок показу можна </a:t>
            </a:r>
            <a:r>
              <a:rPr b="1" sz="1250">
                <a:solidFill>
                  <a:srgbClr val="22293B"/>
                </a:solidFill>
                <a:latin typeface="Calibri"/>
              </a:rPr>
              <a:t>переставляти</a:t>
            </a:r>
            <a:r>
              <a:rPr b="0" sz="1250">
                <a:solidFill>
                  <a:srgbClr val="22293B"/>
                </a:solidFill>
                <a:latin typeface="Calibri"/>
              </a:rPr>
              <a:t> (черга презентації) — під конкретну зустріч.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1" sz="1250">
                <a:solidFill>
                  <a:srgbClr val="22293B"/>
                </a:solidFill>
                <a:latin typeface="Calibri"/>
              </a:rPr>
              <a:t>Аналітика сесії</a:t>
            </a:r>
            <a:r>
              <a:rPr b="0" sz="1250">
                <a:solidFill>
                  <a:srgbClr val="22293B"/>
                </a:solidFill>
                <a:latin typeface="Calibri"/>
              </a:rPr>
              <a:t> — зведені показники по вимірах і підрозділах в один клік.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1" sz="1250">
                <a:solidFill>
                  <a:srgbClr val="22293B"/>
                </a:solidFill>
                <a:latin typeface="Calibri"/>
              </a:rPr>
              <a:t>Автозбереження</a:t>
            </a:r>
            <a:r>
              <a:rPr b="0" sz="1250">
                <a:solidFill>
                  <a:srgbClr val="22293B"/>
                </a:solidFill>
                <a:latin typeface="Calibri"/>
              </a:rPr>
              <a:t>: кожна зміна зберігається автоматично — дані не втрачаються.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b="1" sz="1250">
                <a:solidFill>
                  <a:srgbClr val="2E7D32"/>
                </a:solidFill>
                <a:latin typeface="Calibri"/>
              </a:rPr>
              <a:t>▪  </a:t>
            </a:r>
            <a:r>
              <a:rPr b="1" sz="1250">
                <a:solidFill>
                  <a:srgbClr val="22293B"/>
                </a:solidFill>
                <a:latin typeface="Calibri"/>
              </a:rPr>
              <a:t>Двомовність</a:t>
            </a:r>
            <a:r>
              <a:rPr b="0" sz="1250">
                <a:solidFill>
                  <a:srgbClr val="22293B"/>
                </a:solidFill>
                <a:latin typeface="Calibri"/>
              </a:rPr>
              <a:t> укр/eng — і в інтерфейсі, і у звітах.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932688"/>
            <a:ext cx="4069080" cy="3749039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 w="15875">
            <a:solidFill>
              <a:srgbClr val="E2D9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32688"/>
            <a:ext cx="3794760" cy="37490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50">
                <a:solidFill>
                  <a:srgbClr val="A06A6A"/>
                </a:solidFill>
                <a:latin typeface="Calibri"/>
              </a:rPr>
              <a:t>СКРІНШОТ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C8102E"/>
                </a:solidFill>
                <a:latin typeface="Calibri"/>
              </a:rPr>
              <a:t>Презентація сесії та аналітика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b="0" sz="1050">
                <a:solidFill>
                  <a:srgbClr val="5A6478"/>
                </a:solidFill>
                <a:latin typeface="Calibri"/>
              </a:rPr>
              <a:t>слайд-шоу працівників + зведені показники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Review — модуль оцінки персоналу</dc:title>
  <dc:subject>PptxGenJS Presentation</dc:subject>
  <dc:creator>Talent</dc:creator>
  <cp:lastModifiedBy>Talent</cp:lastModifiedBy>
  <cp:revision>1</cp:revision>
  <dcterms:created xsi:type="dcterms:W3CDTF">2026-07-07T06:25:05Z</dcterms:created>
  <dcterms:modified xsi:type="dcterms:W3CDTF">2026-07-07T06:25:05Z</dcterms:modified>
</cp:coreProperties>
</file>